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Two Pipelines, One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Segoe UI"/>
              </a:defRPr>
            </a:pPr>
            <a:r>
              <a:t>PIPELINE 1: SCREENER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2A0"/>
                </a:solidFill>
                <a:latin typeface="Segoe UI"/>
              </a:defRPr>
            </a:pPr>
            <a:r>
              <a:t>Fan-out/fan-in · 8 nodes · Parallel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270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560" y="1148080"/>
            <a:ext cx="116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Universe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60" y="1376680"/>
            <a:ext cx="1168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Nifty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160" y="12750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0560" y="1097280"/>
            <a:ext cx="1270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1360" y="1148080"/>
            <a:ext cx="116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69CD6"/>
                </a:solidFill>
                <a:latin typeface="Segoe UI"/>
              </a:defRPr>
            </a:pPr>
            <a:r>
              <a:t>Regime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1360" y="1376680"/>
            <a:ext cx="1168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Bull/Bear/Mixed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960" y="12750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4560" y="995680"/>
            <a:ext cx="1625600" cy="1320800"/>
          </a:xfrm>
          <a:prstGeom prst="roundRect">
            <a:avLst>
              <a:gd name="adj" fmla="val 5000"/>
            </a:avLst>
          </a:prstGeom>
          <a:solidFill>
            <a:srgbClr val="0E1117"/>
          </a:solidFill>
          <a:ln w="12700">
            <a:solidFill>
              <a:srgbClr val="889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5360" y="1071880"/>
            <a:ext cx="1524000" cy="5080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22680"/>
            <a:ext cx="142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Segoe UI"/>
              </a:defRPr>
            </a:pPr>
            <a:r>
              <a:t>Momentum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351280"/>
            <a:ext cx="142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17 crit / 5 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5360" y="1656080"/>
            <a:ext cx="1524000" cy="5080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706880"/>
            <a:ext cx="142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726"/>
                </a:solidFill>
                <a:latin typeface="Segoe UI"/>
              </a:defRPr>
            </a:pPr>
            <a: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1935480"/>
            <a:ext cx="142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28+ crit / 7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0960" y="13512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0360" y="1173480"/>
            <a:ext cx="1270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1160" y="1224280"/>
            <a:ext cx="116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1160" y="1452880"/>
            <a:ext cx="1168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Deduplicate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760" y="13512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4360" y="995680"/>
            <a:ext cx="1498600" cy="1320800"/>
          </a:xfrm>
          <a:prstGeom prst="roundRect">
            <a:avLst>
              <a:gd name="adj" fmla="val 5000"/>
            </a:avLst>
          </a:prstGeom>
          <a:solidFill>
            <a:srgbClr val="0E1117"/>
          </a:solidFill>
          <a:ln w="12700">
            <a:solidFill>
              <a:srgbClr val="889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60" y="1071880"/>
            <a:ext cx="1397000" cy="5080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5960" y="1122680"/>
            <a:ext cx="1295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9B0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5960" y="1351280"/>
            <a:ext cx="1295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USP scoring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1656080"/>
            <a:ext cx="1397000" cy="5080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5960" y="1706880"/>
            <a:ext cx="1295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700"/>
                </a:solidFill>
                <a:latin typeface="Segoe UI"/>
              </a:defRPr>
            </a:pPr>
            <a:r>
              <a:t>RAG Ingest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5960" y="1935480"/>
            <a:ext cx="1295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FAISS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3760" y="13512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3160" y="117348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1224280"/>
            <a:ext cx="1295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388FF"/>
                </a:solidFill>
                <a:latin typeface="Segoe UI"/>
              </a:defRPr>
            </a:pPr>
            <a:r>
              <a:t>AI Debate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1452880"/>
            <a:ext cx="1295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Bull/Bear/Judge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726"/>
                </a:solidFill>
                <a:latin typeface="Segoe UI"/>
              </a:defRPr>
            </a:pPr>
            <a:r>
              <a:t>PIPELINE 2: DEEP DIVE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2A0"/>
                </a:solidFill>
                <a:latin typeface="Segoe UI"/>
              </a:defRPr>
            </a:pPr>
            <a:r>
              <a:t>Sequential per-stock · 4 nodes · Full investment memo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06324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560" y="3114040"/>
            <a:ext cx="167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69CD6"/>
                </a:solidFill>
                <a:latin typeface="Segoe UI"/>
              </a:defRPr>
            </a:pPr>
            <a:r>
              <a:t>Data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560" y="3342640"/>
            <a:ext cx="167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yfinance + BSE</a:t>
            </a:r>
            <a:br/>
            <a:r>
              <a:t>filings + shareholding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24104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24760" y="306324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75560" y="3114040"/>
            <a:ext cx="167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9B0"/>
                </a:solidFill>
                <a:latin typeface="Segoe UI"/>
              </a:defRPr>
            </a:pPr>
            <a:r>
              <a:t>Analysis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5560" y="3342640"/>
            <a:ext cx="167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Ratios, DCF, ROCE</a:t>
            </a:r>
            <a:br/>
            <a:r>
              <a:t>peer comparison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3560" y="324104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83760" y="306324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4560" y="3114040"/>
            <a:ext cx="167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726"/>
                </a:solidFill>
                <a:latin typeface="Segoe UI"/>
              </a:defRPr>
            </a:pPr>
            <a:r>
              <a:t>Sentiment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4560" y="3342640"/>
            <a:ext cx="167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News RSS + NLP</a:t>
            </a:r>
            <a:br/>
            <a:r>
              <a:t>management tone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2560" y="324104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42760" y="306324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93560" y="3114040"/>
            <a:ext cx="167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388FF"/>
                </a:solidFill>
                <a:latin typeface="Segoe UI"/>
              </a:defRPr>
            </a:pPr>
            <a:r>
              <a:t>Report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3560" y="3342640"/>
            <a:ext cx="167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C0C0C0"/>
                </a:solidFill>
                <a:latin typeface="Segoe UI"/>
              </a:defRPr>
            </a:pPr>
            <a:r>
              <a:t>5-dim scoring</a:t>
            </a:r>
            <a:br/>
            <a:r>
              <a:t>+ RAG retrieval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AGENTS COMMUNICATE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20624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11182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7360" y="4282440"/>
            <a:ext cx="254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  <a:latin typeface="Segoe UI"/>
              </a:defRPr>
            </a:pPr>
            <a:r>
              <a:t>Shared State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7360" y="4511040"/>
            <a:ext cx="254000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700">
                <a:solidFill>
                  <a:srgbClr val="C0C0C0"/>
                </a:solidFill>
                <a:latin typeface="Segoe UI"/>
              </a:defRPr>
            </a:pPr>
            <a:r>
              <a:t>TypedDict — each agent reads what</a:t>
            </a:r>
            <a:br/>
            <a:r>
              <a:t>it needs, writes what it knows.</a:t>
            </a:r>
            <a:br/>
            <a:r>
              <a:t>Fan-out via operator.add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1840" y="420624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11182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93440" y="4282440"/>
            <a:ext cx="254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EC9B0"/>
                </a:solidFill>
                <a:latin typeface="Segoe UI"/>
              </a:defRPr>
            </a:pPr>
            <a:r>
              <a:t>USP Dimensions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93440" y="4511040"/>
            <a:ext cx="254000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700">
                <a:solidFill>
                  <a:srgbClr val="C0C0C0"/>
                </a:solidFill>
                <a:latin typeface="Segoe UI"/>
              </a:defRPr>
            </a:pPr>
            <a:r>
              <a:t>Geopolitical · Smart Money Lag</a:t>
            </a:r>
            <a:br/>
            <a:r>
              <a:t>Regulatory · Mgmt Credibility</a:t>
            </a:r>
            <a:br/>
            <a:r>
              <a:t>Promoter Behavior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20624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11182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19520" y="4282440"/>
            <a:ext cx="254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D700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19520" y="4511040"/>
            <a:ext cx="254000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700">
                <a:solidFill>
                  <a:srgbClr val="C0C0C0"/>
                </a:solidFill>
                <a:latin typeface="Segoe UI"/>
              </a:defRPr>
            </a:pPr>
            <a:r>
              <a:t>yfinance · BSE APIs</a:t>
            </a:r>
            <a:br/>
            <a:r>
              <a:t>Google News RSS · Screener.in</a:t>
            </a:r>
            <a:br/>
            <a:r>
              <a:t>FAISS RAG (local)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0" y="420624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111820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45600" y="4282440"/>
            <a:ext cx="254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A726"/>
                </a:solidFill>
                <a:latin typeface="Segoe UI"/>
              </a:defRPr>
            </a:pPr>
            <a:r>
              <a:t>Resilience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5600" y="4511040"/>
            <a:ext cx="254000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700">
                <a:solidFill>
                  <a:srgbClr val="C0C0C0"/>
                </a:solidFill>
                <a:latin typeface="Segoe UI"/>
              </a:defRPr>
            </a:pPr>
            <a:r>
              <a:t>SQLite cache (4hr) · Circuit breaker</a:t>
            </a:r>
            <a:br/>
            <a:r>
              <a:t>(3 fails → 5min cooldown)</a:t>
            </a:r>
            <a:br/>
            <a:r>
              <a:t>Rate limiter · Retry backoff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486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2A0"/>
                </a:solidFill>
                <a:latin typeface="Segoe UI"/>
              </a:defRPr>
            </a:pPr>
            <a:r>
              <a:t>LLM Commentary Layer: Investment Thesis · Key Catalysts · Key Risks · What to Watch — grounded in Google News RSS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2A0"/>
                </a:solidFill>
                <a:latin typeface="Segoe UI"/>
              </a:defRPr>
            </a:pPr>
            <a:r>
              <a:t>Indian Equity Analyst · LangGraph + Streamlit + Gemini 2.0 Flash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